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Shahar</c:v>
                  </c:pt>
                  <c:pt idx="1">
                    <c:v>Bozor</c:v>
                  </c:pt>
                  <c:pt idx="2">
                    <c:v>Rayon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817624750</c:v>
                </c:pt>
                <c:pt idx="1">
                  <c:v>1027167875</c:v>
                </c:pt>
                <c:pt idx="2">
                  <c:v>349436975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Shahar</c:v>
                  </c:pt>
                  <c:pt idx="1">
                    <c:v>Bozor</c:v>
                  </c:pt>
                  <c:pt idx="2">
                    <c:v>Rayon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716901600</c:v>
                </c:pt>
                <c:pt idx="1">
                  <c:v>811238200</c:v>
                </c:pt>
                <c:pt idx="2">
                  <c:v>407209200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16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9CC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62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B16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Kanal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26769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F7D5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Bozor</c:v>
                </c:pt>
                <c:pt idx="1">
                  <c:v>Shahar</c:v>
                </c:pt>
                <c:pt idx="2">
                  <c:v>Rayon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КОСМЕТИКА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 tahlili loyihasi: yakuniy taqdimot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→  Python  →  SQL  →  Tableau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xulosalari va texnik yondashuv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yo'li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ma'lumotdan interaktiv dashboard'gacha — to'rt bosqichli jarayon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148840"/>
            <a:ext cx="914400" cy="91440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2404872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ma'lumot: oylik savdo, 3 kanal (Shahar/Bozor/Rayon), 2025-2026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081528" y="32004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83380" y="2148840"/>
            <a:ext cx="914400" cy="914400"/>
          </a:xfrm>
          <a:prstGeom prst="ellipse">
            <a:avLst/>
          </a:prstGeom>
          <a:solidFill>
            <a:srgbClr val="3776A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548" y="240487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65760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Tozalash, pandas bilan tahlil, matplotlib grafiklar (Google Colab)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916168" y="32004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18020" y="2148840"/>
            <a:ext cx="914400" cy="914400"/>
          </a:xfrm>
          <a:prstGeom prst="ellipse">
            <a:avLst/>
          </a:prstGeom>
          <a:solidFill>
            <a:srgbClr val="33679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2404872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65760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GROUP BY, window function (LAG, RANK), CTE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750808" y="32004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05256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52660" y="214884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828" y="2404872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5256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365760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dashboard: filtrlar, KPI kartalar, vizual tahlil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bosqich bir xil ma'lumotni chuqurroq tushunish uchun ishlatildi: Excel — kirish, Python — tezkor tahlil, SQL — chuqur/kengaytiriladigan tahlil, Tableau — vizual taqdimot.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Vaziyat xulosasi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2026-yil H1 natijalari 2025-yil H1 bilan solishtirilganda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-11,8%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savdo o'zgarishi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 mlrd (2026) vs 2,19 mlrd (2025)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5544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1645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-12,3%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5544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1645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-21,0%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5544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1645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+16,5%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788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xulosa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315468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umumiy bozor pasayishi emas — bu Bozor kanalidagi keskin tushish. Bozor eng katta ulushga ega bo'lgani uchun uning -21% pasayishi butun natijani pastga tortmoqda. Rayon esa yagona o'sayotgan kanal (+16,5%).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33672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087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— eng katta pasayish va eng katta og'irlik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5902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— yagona o'sib borayotgan kanal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39512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093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Aprel oyi — yil ichidagi eng keskin siljish nuqtasi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 bo'yicha taqqoslash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jami: Shahar, Bozor, Rayon — 2025 vs 2026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709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-12,3%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pasayish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38160" y="30632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31729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4472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-21,0%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995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katta muammo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45262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66760" y="46360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49103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+16,5%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5458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o'sish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orqali chuqur tahlil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PostgreSQL'da window function va CTE yordamida topilgan qo'shimcha naqshlar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44068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LAG() — oydan-oyga anomaliya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Bozor, 2026-aprel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468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+77,1%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oyda deyarli ikki barobar sakrash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Rayon, 2026-mart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337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+91,2%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ketma-ket ikki oy keskin o'sish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Rayon, 2026-aprel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+94,8%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davom etdi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578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anomaliyalar Excel yoki Python'dagi vizual tekshiruvda ko'zga tashlanmasdi — SQL orqali aniq raqamda tasdiqlandi.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7F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63640" y="160020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3F7D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965960"/>
            <a:ext cx="5440680" cy="320040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1600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RANK() — har bir kanalning cho'qqisi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— eng yaxshi oyi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2025-mart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2880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190,8M — hali 2026'da takrorlanmagan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 — eng yaxshi oyi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2025-mart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173,2M — hali 2026'da takrorlanmagan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— eng yaxshi oyi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50976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2026-may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98,3M — Rayon'ning o'sish trendi bilan mos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52578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Xulosa: Shahar va Bozor 2025-yilgi cho'qqisiga hali yeta olmagan, Rayon esa yangi cho'qqisini 2026'da yangiladi.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bilan tezkor tahlil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Colab, pandas va matplotlib — ma'lumotni tozalash va birinchi vizualizatsiya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783080"/>
            <a:ext cx="1097280" cy="1097280"/>
          </a:xfrm>
          <a:prstGeom prst="ellipse">
            <a:avLst/>
          </a:prstGeom>
          <a:solidFill>
            <a:srgbClr val="3776A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039112"/>
            <a:ext cx="585216" cy="5852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0" y="1828800"/>
            <a:ext cx="457200" cy="4572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286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2926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yuklash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926080" y="21488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faylni Colab'ga yuklash, pandas bilan DataFrame'ga o'qish (dtype nazorati bilan)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286000" y="2788920"/>
            <a:ext cx="457200" cy="4572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2860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Tozalash va tuzilma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926080" y="3108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ustunini yil/oy'ga ajratish, yangi 'Jami' ustunini hisoblash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286000" y="3749040"/>
            <a:ext cx="457200" cy="4572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2860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92608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Guruhlash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926080" y="4069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groupby('yil') va groupby('yil')[kanallar] orqali yillik va kanal darajasidagi jamlanma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2286000" y="4709160"/>
            <a:ext cx="457200" cy="4572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28600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292608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Vizualizatsiya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926080" y="5029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bilan 4 xil grafik: chiziq, ustunli, doira (pie), yillik taqqoslash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4 ta PNG grafik + Excel eksport (3 varaq: xom ma'lumot, yillik jami, o'sish foizi)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bilan chuqur tahlil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jadval loyihasi, window function va CTE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loyihasi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format: yil, oy, kanal, hajm — GROUP BY va filtrlash uchun qulay tuzilma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373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031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va kanal darajasidagi jamlanma (SUM), Python natijalari bilan 100% mos tasdiqlandi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— LAG()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kanal bilan, oydan-oyga o'zgarish foizini avtomatik hisoblash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— SUM() OVER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6118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yil, oy bilan, har oyda kanal ulushini foizda ko'rsatish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754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2064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bosqichli hisob-kitobni aniq, o'qish oson qismlarga bo'lib yozish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4617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754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RANK()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12064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kanalning eng yuqori savdo oyini avtomatik topish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Tableau: interaktiv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SQL'dan olingan xulosalar endi filtrlanadigan, vizual formatda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212080"/>
          </a:xfrm>
          <a:prstGeom prst="roundRect">
            <a:avLst>
              <a:gd name="adj" fmla="val 1404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64592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1645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1,94 mlrd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savdo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22860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-11,8%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 (YoY)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22860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Rayon +16,5%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yaxshi kanal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bo'yicha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078224"/>
            <a:ext cx="457200" cy="63093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1417320" y="3762756"/>
            <a:ext cx="457200" cy="94640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4183380"/>
            <a:ext cx="457200" cy="525780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697480" y="3920490"/>
            <a:ext cx="457200" cy="78867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4025646"/>
            <a:ext cx="457200" cy="68351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2628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dinamika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4393692"/>
            <a:ext cx="457200" cy="-210312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4183380"/>
            <a:ext cx="457200" cy="315468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4498848"/>
            <a:ext cx="457200" cy="-630936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3867912"/>
            <a:ext cx="457200" cy="210312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4078224"/>
            <a:ext cx="457200" cy="-105156"/>
          </a:xfrm>
          <a:prstGeom prst="line">
            <a:avLst/>
          </a:prstGeom>
          <a:noFill/>
          <a:ln w="28575">
            <a:solidFill>
              <a:srgbClr val="A267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4604004"/>
            <a:ext cx="457200" cy="-105156"/>
          </a:xfrm>
          <a:prstGeom prst="line">
            <a:avLst/>
          </a:prstGeom>
          <a:noFill/>
          <a:ln w="28575">
            <a:solidFill>
              <a:srgbClr val="6D2E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4498848"/>
            <a:ext cx="457200" cy="-105156"/>
          </a:xfrm>
          <a:prstGeom prst="line">
            <a:avLst/>
          </a:prstGeom>
          <a:noFill/>
          <a:ln w="28575">
            <a:solidFill>
              <a:srgbClr val="6D2E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4393692"/>
            <a:ext cx="457200" cy="-630936"/>
          </a:xfrm>
          <a:prstGeom prst="line">
            <a:avLst/>
          </a:prstGeom>
          <a:noFill/>
          <a:ln w="28575">
            <a:solidFill>
              <a:srgbClr val="6D2E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3762756"/>
            <a:ext cx="457200" cy="157734"/>
          </a:xfrm>
          <a:prstGeom prst="line">
            <a:avLst/>
          </a:prstGeom>
          <a:noFill/>
          <a:ln w="28575">
            <a:solidFill>
              <a:srgbClr val="6D2E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3920490"/>
            <a:ext cx="457200" cy="105156"/>
          </a:xfrm>
          <a:prstGeom prst="line">
            <a:avLst/>
          </a:prstGeom>
          <a:noFill/>
          <a:ln w="28575">
            <a:solidFill>
              <a:srgbClr val="6D2E4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0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ulushi</a:t>
            </a:r>
            <a:endParaRPr lang="en-US" sz="11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8366760" y="3657600"/>
          <a:ext cx="118872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 txBox="1"/>
          <p:nvPr/>
        </p:nvSpPr>
        <p:spPr>
          <a:xfrm>
            <a:off x="77724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kanal (2025 vs 2026)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7240" y="5470398"/>
            <a:ext cx="411480" cy="33604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9" name="Shape 36"/>
          <p:cNvSpPr/>
          <p:nvPr/>
        </p:nvSpPr>
        <p:spPr>
          <a:xfrm>
            <a:off x="777240" y="5230368"/>
            <a:ext cx="411480" cy="24003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0" name="Shape 37"/>
          <p:cNvSpPr/>
          <p:nvPr/>
        </p:nvSpPr>
        <p:spPr>
          <a:xfrm>
            <a:off x="777240" y="5086350"/>
            <a:ext cx="411480" cy="144018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41" name="Shape 38"/>
          <p:cNvSpPr/>
          <p:nvPr/>
        </p:nvSpPr>
        <p:spPr>
          <a:xfrm>
            <a:off x="1371600" y="5470398"/>
            <a:ext cx="411480" cy="33604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2" name="Shape 39"/>
          <p:cNvSpPr/>
          <p:nvPr/>
        </p:nvSpPr>
        <p:spPr>
          <a:xfrm>
            <a:off x="1371600" y="5230368"/>
            <a:ext cx="411480" cy="24003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3" name="Shape 40"/>
          <p:cNvSpPr/>
          <p:nvPr/>
        </p:nvSpPr>
        <p:spPr>
          <a:xfrm>
            <a:off x="1371600" y="5086350"/>
            <a:ext cx="411480" cy="144018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44" name="Shape 41"/>
          <p:cNvSpPr/>
          <p:nvPr/>
        </p:nvSpPr>
        <p:spPr>
          <a:xfrm>
            <a:off x="1965960" y="5470398"/>
            <a:ext cx="411480" cy="33604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5" name="Shape 42"/>
          <p:cNvSpPr/>
          <p:nvPr/>
        </p:nvSpPr>
        <p:spPr>
          <a:xfrm>
            <a:off x="1965960" y="5230368"/>
            <a:ext cx="411480" cy="24003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6" name="Shape 43"/>
          <p:cNvSpPr/>
          <p:nvPr/>
        </p:nvSpPr>
        <p:spPr>
          <a:xfrm>
            <a:off x="1965960" y="5086350"/>
            <a:ext cx="411480" cy="144018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47" name="Shape 44"/>
          <p:cNvSpPr/>
          <p:nvPr/>
        </p:nvSpPr>
        <p:spPr>
          <a:xfrm>
            <a:off x="2560320" y="5470398"/>
            <a:ext cx="411480" cy="33604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8" name="Shape 45"/>
          <p:cNvSpPr/>
          <p:nvPr/>
        </p:nvSpPr>
        <p:spPr>
          <a:xfrm>
            <a:off x="2560320" y="5230368"/>
            <a:ext cx="411480" cy="24003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9" name="Shape 46"/>
          <p:cNvSpPr/>
          <p:nvPr/>
        </p:nvSpPr>
        <p:spPr>
          <a:xfrm>
            <a:off x="2560320" y="5086350"/>
            <a:ext cx="411480" cy="144018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50" name="Shape 47"/>
          <p:cNvSpPr/>
          <p:nvPr/>
        </p:nvSpPr>
        <p:spPr>
          <a:xfrm>
            <a:off x="3154680" y="5470398"/>
            <a:ext cx="411480" cy="33604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1" name="Shape 48"/>
          <p:cNvSpPr/>
          <p:nvPr/>
        </p:nvSpPr>
        <p:spPr>
          <a:xfrm>
            <a:off x="3154680" y="5230368"/>
            <a:ext cx="411480" cy="24003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52" name="Shape 49"/>
          <p:cNvSpPr/>
          <p:nvPr/>
        </p:nvSpPr>
        <p:spPr>
          <a:xfrm>
            <a:off x="3154680" y="5086350"/>
            <a:ext cx="411480" cy="144018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53" name="Shape 50"/>
          <p:cNvSpPr/>
          <p:nvPr/>
        </p:nvSpPr>
        <p:spPr>
          <a:xfrm>
            <a:off x="3749040" y="5470398"/>
            <a:ext cx="411480" cy="33604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4" name="Shape 51"/>
          <p:cNvSpPr/>
          <p:nvPr/>
        </p:nvSpPr>
        <p:spPr>
          <a:xfrm>
            <a:off x="3749040" y="5230368"/>
            <a:ext cx="411480" cy="24003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55" name="Shape 52"/>
          <p:cNvSpPr/>
          <p:nvPr/>
        </p:nvSpPr>
        <p:spPr>
          <a:xfrm>
            <a:off x="3749040" y="5086350"/>
            <a:ext cx="411480" cy="144018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777240" y="635508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Mockup: real dashboard Tableau Desktop'da qurilgan bo'lib, filtrlash, tooltip va real vaqtli yangilanishni o'z ichiga oladi.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Tavsiyalar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bosqichlariga bo'lingan harakat rejasi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54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OY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Darhol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18104"/>
            <a:ext cx="91440" cy="91440"/>
          </a:xfrm>
          <a:prstGeom prst="ellipse">
            <a:avLst/>
          </a:prstGeom>
          <a:solidFill>
            <a:srgbClr val="B548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94436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kanalidagi eng past ko'rsatkichli 2-3 nuqtani chuqur tekshirish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69664"/>
            <a:ext cx="91440" cy="91440"/>
          </a:xfrm>
          <a:prstGeom prst="ellipse">
            <a:avLst/>
          </a:prstGeom>
          <a:solidFill>
            <a:srgbClr val="B54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9959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Aprel/mart sakrashlarining sababini aniqlash (aksiya bo'lsa — takrorlash rejasi)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874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OY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Qisqa muddat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09160" y="3118104"/>
            <a:ext cx="91440" cy="914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3480" y="294436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kanalining muvaffaqiyat omillarini hujjatlashtirish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4169664"/>
            <a:ext cx="91440" cy="914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9959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Bozorda mijozlar so'rovnomasi va raqobatchi tahlili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874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OY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O'rta muddat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95360" y="3118104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869680" y="294436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dashboard'ni har oy yangilab, haftalik kuzatuvga aylantirish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95360" y="4169664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69680" y="39959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emas, kanal darajasida KPI belgilash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ma'lumot to'plami, to'rt xil vosita — Excel, Python, SQL va Tableau — bir-birini to'ldirib, chuqur va ishonchli xulosaga olib keldi: pasayish umumiy emas, aniq manzilga ega (Bozor kanali), va yechim yo'li allaqachon ma'lum (Rayon).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 va muhokama uchun ochiqmiz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2026-09-12T10:16:47Z</dcterms:created>
  <dcterms:modified xsi:type="dcterms:W3CDTF">2026-09-12T10:16:47Z</dcterms:modified>
</cp:coreProperties>
</file>