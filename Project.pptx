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59" r:id="rId6"/>
    <p:sldId id="269" r:id="rId7"/>
    <p:sldId id="260" r:id="rId8"/>
    <p:sldId id="261" r:id="rId9"/>
    <p:sldId id="262" r:id="rId10"/>
    <p:sldId id="267" r:id="rId11"/>
    <p:sldId id="264" r:id="rId12"/>
    <p:sldId id="27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25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3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ln w="38100" cap="flat">
              <a:solidFill>
                <a:srgbClr val="A26769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A26769"/>
              </a:solidFill>
              <a:ln w="9525" cap="flat">
                <a:solidFill>
                  <a:srgbClr val="A2676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Yan</c:v>
                </c:pt>
                <c:pt idx="1">
                  <c:v>Fev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Iyun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342412900</c:v>
                </c:pt>
                <c:pt idx="1">
                  <c:v>298622650</c:v>
                </c:pt>
                <c:pt idx="2">
                  <c:v>414768050</c:v>
                </c:pt>
                <c:pt idx="3">
                  <c:v>372663200</c:v>
                </c:pt>
                <c:pt idx="4">
                  <c:v>386021625</c:v>
                </c:pt>
                <c:pt idx="5">
                  <c:v>379741175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09-DC40-B116-FA9F4D0A2E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ln w="38100" cap="flat">
              <a:solidFill>
                <a:srgbClr val="6D2E4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6D2E46"/>
              </a:solidFill>
              <a:ln w="9525" cap="flat">
                <a:solidFill>
                  <a:srgbClr val="6D2E4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Yan</c:v>
                </c:pt>
                <c:pt idx="1">
                  <c:v>Fev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Iyun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225293150</c:v>
                </c:pt>
                <c:pt idx="1">
                  <c:v>247309775</c:v>
                </c:pt>
                <c:pt idx="2">
                  <c:v>263287350</c:v>
                </c:pt>
                <c:pt idx="3">
                  <c:v>435738525</c:v>
                </c:pt>
                <c:pt idx="4">
                  <c:v>394350350</c:v>
                </c:pt>
                <c:pt idx="5">
                  <c:v>369369850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09-DC40-B116-FA9F4D0A2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6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9CC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62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B162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Shahar</c:v>
                </c:pt>
                <c:pt idx="1">
                  <c:v>Bozor</c:v>
                </c:pt>
                <c:pt idx="2">
                  <c:v>Rayon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817624750</c:v>
                </c:pt>
                <c:pt idx="1">
                  <c:v>1027167875</c:v>
                </c:pt>
                <c:pt idx="2">
                  <c:v>349436975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D9-3249-8135-19DA888AEB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Shahar</c:v>
                </c:pt>
                <c:pt idx="1">
                  <c:v>Bozor</c:v>
                </c:pt>
                <c:pt idx="2">
                  <c:v>Rayon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716901600</c:v>
                </c:pt>
                <c:pt idx="1">
                  <c:v>811238200</c:v>
                </c:pt>
                <c:pt idx="2">
                  <c:v>407209200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D9-3249-8135-19DA888AEB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16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9CC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62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B162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367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0F93-B12E-735C-EBD4-6ADB506FC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B2695-3E1B-6C3F-E14D-E97C6F88D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F654E-DCD2-D256-30EE-0CCCE9DF0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4AFAA-02EC-EDE0-AA16-404162EB46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22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Savdo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dinamikasi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tahlili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Vizualizatsiyasi</a:t>
            </a:r>
            <a:endParaRPr lang="en-US" sz="36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(2025-2026)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→  Python  →  SQL  →  Tableau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Loyiha yo'li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ma'lumotdan interaktiv dashboard'gacha — to'rt bosqichli jarayon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8740" y="2148840"/>
            <a:ext cx="914400" cy="914400"/>
          </a:xfrm>
          <a:prstGeom prst="ellipse">
            <a:avLst/>
          </a:prstGeom>
          <a:solidFill>
            <a:srgbClr val="3F7D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" y="2404872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Xom ma'lumot: oylik savdo, 3 kanal (Shahar/Bozor/Rayon), 2025-2026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081528" y="32004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83380" y="2148840"/>
            <a:ext cx="914400" cy="914400"/>
          </a:xfrm>
          <a:prstGeom prst="ellipse">
            <a:avLst/>
          </a:prstGeom>
          <a:solidFill>
            <a:srgbClr val="3776A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240487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65760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Tozalash, pandas bilan tahlil, matplotlib grafiklar (Google Colab)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916168" y="32004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18020" y="2148840"/>
            <a:ext cx="914400" cy="914400"/>
          </a:xfrm>
          <a:prstGeom prst="ellipse">
            <a:avLst/>
          </a:prstGeom>
          <a:solidFill>
            <a:srgbClr val="33679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2404872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65760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GROUP BY, window function (LAG, RANK), CTE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750808" y="320040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05256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852660" y="2148840"/>
            <a:ext cx="914400" cy="9144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828" y="2404872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52560" y="3246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1160" y="365760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dashboard: filtrlar, KPI kartalar, vizual tahlil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bosqich bir xil ma'lumotni chuqurroq tushunish uchun ishlatildi: Excel — kirish, Python — tezkor tahlil, SQL — chuqur/kengaytiriladigan tahlil, Tableau — vizual taqdimot.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Vaziyat xulosasi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2026-yil H1 natijalari 2025-yil H1 bilan solishtirilganda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-11,8%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savdo o'zgarishi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 mlrd (2026) vs 2,19 mlrd (2025)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15544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0520" y="1645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-12,3%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5544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1645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-21,0%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15544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1645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+16,5%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2148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27889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xulosa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315468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umumiy bozor pasayishi emas — bu Bozor kanalidagi keskin tushish. Bozor eng katta ulushga ega bo'lgani uchun uning -21% pasayishi butun natijani pastga tortmoqda. Rayon esa yagona o'sayotgan kanal (+16,5%).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33672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0873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— eng katta pasayish va eng katta og'irlik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5902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— yagona o'sib borayotgan kanal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39512"/>
            <a:ext cx="109728" cy="10972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0932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Aprel oyi — yil ichidagi eng keskin siljish nuqtasi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Oylik dinamika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savdo, oy kesimida: 2025 vs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11064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Yanvar-Mart: 2026 sezilarli pastroq  ·  Aprel: 2026 keskin sakrab 2025 dan o'tib ketdi  ·  May-Iyun: yaqin, biroz pastroq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 bo'yicha taqqoslash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jami: Shahar, Bozor, Rayon — 2025 vs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7099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-12,3%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532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pasayish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138160" y="30632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31729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4472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-21,0%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995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katta muammo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45262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66760" y="46360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49103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+16,5%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5458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Yagona o'sish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Sabab qanday aniqlanadi?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Hozirgi ma'lumot naqshni ko'rsatadi, sababni emas — quyidagilarni tekshirish kerak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68580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44068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BOZOR kanali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231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Ijara/soliq narxi o'zgarganmi?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00984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3639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 narx pasaytirdi yoki yangi do'kon ochdimi?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4962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Assortiment yoki yetkazib berishda uzilish bo'ldimi?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727448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6285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Aprel sakrashi bir martalik aksiyami yoki barqaror trendmi?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600200"/>
            <a:ext cx="5440680" cy="685800"/>
          </a:xfrm>
          <a:prstGeom prst="roundRect">
            <a:avLst>
              <a:gd name="adj" fmla="val 13333"/>
            </a:avLst>
          </a:prstGeom>
          <a:solidFill>
            <a:srgbClr val="3F7D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965960"/>
            <a:ext cx="5440680" cy="320040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600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RAYON kanali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37960" y="2587752"/>
            <a:ext cx="91440" cy="91440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4231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O'sishga nima sabab bo'ldi — narx, joylashuv, marketingmi?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300984"/>
            <a:ext cx="91440" cy="91440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13639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omillarni boshqa kanallarga tatbiq etish mumkinmi?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4014216"/>
            <a:ext cx="91440" cy="91440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25" name="Text 23"/>
          <p:cNvSpPr/>
          <p:nvPr/>
        </p:nvSpPr>
        <p:spPr>
          <a:xfrm>
            <a:off x="6812280" y="384962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 barqarormi yoki mavsumiymi?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orqali chuqur tahlil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PostgreSQL'da window function va CTE yordamida topilgan </a:t>
            </a:r>
            <a:r>
              <a:rPr lang="en-US" sz="1300" dirty="0" err="1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</a:t>
            </a: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ma’lumotlar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7F3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440680" cy="68580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440680" cy="3200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LAG() — oydan-oyga anomaliya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Bozor, 2026-aprel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468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+77,1%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oyda deyarli ikki barobar sakrash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Rayon, 2026-mart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337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+91,2%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ketma-ket ikki oy keskin o'sish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Rayon, 2026-aprel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206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+94,8%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davom etdi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578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anomaliyalar Excel yoki Python'dagi vizual tekshiruvda ko'zga tashlanmasdi — SQL orqali aniq raqamda tasdiqlandi.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7F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63640" y="1600200"/>
            <a:ext cx="5440680" cy="685800"/>
          </a:xfrm>
          <a:prstGeom prst="roundRect">
            <a:avLst>
              <a:gd name="adj" fmla="val 13333"/>
            </a:avLst>
          </a:prstGeom>
          <a:solidFill>
            <a:srgbClr val="3F7D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1965960"/>
            <a:ext cx="5440680" cy="320040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16002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RANK() — har bir kanalning cho'qqisi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— eng yaxshi oyi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2025-mart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2880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190,8M — hali 2026'da takrorlanmagan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 — eng yaxshi oyi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2025-mart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173,2M — hali 2026'da takrorlanmagan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— eng yaxshi oyi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50976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2026-may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4617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98,3M — Rayon'ning o'sish trendi bilan mos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52578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Xulosa: Shahar va Bozor 2025-yilgi cho'qqisiga hali yeta olmagan, Rayon esa yangi cho'qqisini 2026'da yangiladi.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bilan tezkor tahlil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Colab, pandas va matplotlib — ma'lumotni tozalash va birinchi vizualizatsiya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783080"/>
            <a:ext cx="1097280" cy="1097280"/>
          </a:xfrm>
          <a:prstGeom prst="ellipse">
            <a:avLst/>
          </a:prstGeom>
          <a:solidFill>
            <a:srgbClr val="3776A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39112"/>
            <a:ext cx="585216" cy="5852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0" y="1828800"/>
            <a:ext cx="457200" cy="4572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2860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29260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yuklash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926080" y="21488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faylni Colab'ga yuklash, pandas bilan DataFrame'ga o'qish (dtype nazorati bilan)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286000" y="2788920"/>
            <a:ext cx="457200" cy="4572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2860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Tozalash va tuzilma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926080" y="3108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ustunini yil/oy'ga ajratish, yangi 'Jami' ustunini hisoblash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286000" y="3749040"/>
            <a:ext cx="457200" cy="4572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2860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92608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Guruhlash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926080" y="4069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groupby('yil') va groupby('yil')[kanallar] orqali yillik va kanal darajasidagi jamlanma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2286000" y="4709160"/>
            <a:ext cx="457200" cy="457200"/>
          </a:xfrm>
          <a:prstGeom prst="ellipse">
            <a:avLst/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28600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292608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Vizualizatsiya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2926080" y="5029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bilan 4 xil grafik: chiziq, ustunli, doira (pie), yillik taqqoslash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4 ta PNG grafik + Excel eksport (3 varaq: xom ma'lumot, yillik jami, o'sish foizi)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bilan chuqur tahlil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jadval loyihasi, window function va CTE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 loyihasi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format: yil, oy, kanal, hajm — GROUP BY va filtrlash uchun qulay tuzilma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7373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031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Yillik va kanal darajasidagi jamlanma (SUM), Python natijalari bilan 100% mos tasdiqlandi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— LAG()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118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kanal bilan, oydan-oyga o'zgarish foizini avtomatik hisoblash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— SUM() OVER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6118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yil, oy bilan, har oyda kanal ulushini foizda ko'rsatish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754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12064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bosqichli hisob-kitobni aniq, o'qish oson qismlarga bo'lib yozish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4617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7548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RANK()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512064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kanalning eng yuqori savdo oyini avtomatik topish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1CCA3-B5FC-BA2C-EED2-93D712A58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B7398F-C7DC-90C8-9079-EF20FBADC18B}"/>
              </a:ext>
            </a:extLst>
          </p:cNvPr>
          <p:cNvSpPr txBox="1"/>
          <p:nvPr/>
        </p:nvSpPr>
        <p:spPr>
          <a:xfrm>
            <a:off x="548641" y="411480"/>
            <a:ext cx="3220894" cy="2625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9F4375-ED5E-D57B-33B4-0DD1645FD659}"/>
              </a:ext>
            </a:extLst>
          </p:cNvPr>
          <p:cNvSpPr txBox="1"/>
          <p:nvPr/>
        </p:nvSpPr>
        <p:spPr>
          <a:xfrm>
            <a:off x="1676588" y="4360795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63C49E3-5803-203C-D1FF-6F35367AA831}"/>
              </a:ext>
            </a:extLst>
          </p:cNvPr>
          <p:cNvSpPr txBox="1"/>
          <p:nvPr/>
        </p:nvSpPr>
        <p:spPr>
          <a:xfrm>
            <a:off x="7315200" y="546582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7032A88-A81B-FD83-A167-3717FE630F8C}"/>
              </a:ext>
            </a:extLst>
          </p:cNvPr>
          <p:cNvSpPr txBox="1"/>
          <p:nvPr/>
        </p:nvSpPr>
        <p:spPr>
          <a:xfrm>
            <a:off x="4871808" y="32998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0E01ED3-5EF7-B832-03D0-4238DBB96571}"/>
              </a:ext>
            </a:extLst>
          </p:cNvPr>
          <p:cNvSpPr txBox="1"/>
          <p:nvPr/>
        </p:nvSpPr>
        <p:spPr>
          <a:xfrm>
            <a:off x="8229600" y="3383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5B70165F-F323-6113-76E8-7687E84A84C5}"/>
              </a:ext>
            </a:extLst>
          </p:cNvPr>
          <p:cNvSpPr txBox="1"/>
          <p:nvPr/>
        </p:nvSpPr>
        <p:spPr>
          <a:xfrm>
            <a:off x="1137745" y="5734681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E9F6A261-9993-928B-179D-A0BCE587CEE6}"/>
              </a:ext>
            </a:extLst>
          </p:cNvPr>
          <p:cNvSpPr/>
          <p:nvPr/>
        </p:nvSpPr>
        <p:spPr>
          <a:xfrm>
            <a:off x="447216" y="427810"/>
            <a:ext cx="3220894" cy="6018710"/>
          </a:xfrm>
          <a:prstGeom prst="roundRect">
            <a:avLst>
              <a:gd name="adj" fmla="val 6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3D9CC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Tableau: </a:t>
            </a:r>
            <a:r>
              <a:rPr lang="en-US" b="1" dirty="0" err="1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interaktiv</a:t>
            </a:r>
            <a:r>
              <a:rPr lang="en-US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dashboard</a:t>
            </a:r>
          </a:p>
          <a:p>
            <a:endParaRPr lang="en-US" b="1" dirty="0">
              <a:solidFill>
                <a:srgbClr val="2B1620"/>
              </a:solidFill>
              <a:latin typeface="Cambria" pitchFamily="34" charset="0"/>
            </a:endParaRPr>
          </a:p>
          <a:p>
            <a:r>
              <a:rPr lang="en-US" b="1" dirty="0">
                <a:solidFill>
                  <a:srgbClr val="2B1620"/>
                </a:solidFill>
                <a:latin typeface="Cambria" pitchFamily="34" charset="0"/>
              </a:rPr>
              <a:t>1.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Umumiy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holat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bo’yicha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2026 da 2025 –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yilga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nisbatan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11,8 %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pasaygan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.</a:t>
            </a:r>
          </a:p>
          <a:p>
            <a:r>
              <a:rPr lang="en-US" b="1" dirty="0">
                <a:solidFill>
                  <a:srgbClr val="2B1620"/>
                </a:solidFill>
                <a:latin typeface="Cambria" pitchFamily="34" charset="0"/>
              </a:rPr>
              <a:t>2. 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Kanal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darajasidagi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qarama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–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qarshilik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. </a:t>
            </a:r>
          </a:p>
          <a:p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Bozor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–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eng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katta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hajm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(44,4% ),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lekin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Keskin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pasayganini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ham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ko’rishimiz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mumkin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. Rayon– 18,3%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eng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kichik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hajm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bo’lishiga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qaramasdan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+16,5%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o’sayotgan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kanal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.</a:t>
            </a:r>
          </a:p>
          <a:p>
            <a:r>
              <a:rPr lang="en-US" b="1" dirty="0">
                <a:solidFill>
                  <a:srgbClr val="2B1620"/>
                </a:solidFill>
                <a:latin typeface="Cambria" pitchFamily="34" charset="0"/>
              </a:rPr>
              <a:t>3.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Vaqt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bo’yicha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anomaliya</a:t>
            </a:r>
            <a:endParaRPr lang="en-US" dirty="0">
              <a:solidFill>
                <a:srgbClr val="2B1620"/>
              </a:solidFill>
              <a:latin typeface="Cambria" pitchFamily="34" charset="0"/>
            </a:endParaRPr>
          </a:p>
          <a:p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Aprel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oyi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yil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ichidagi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eng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kuchli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oy –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bu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Bozor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va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Rayon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kanallaridagi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keskin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(+77%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va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95% )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qisqa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muddatli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sakrash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bilan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 </a:t>
            </a:r>
            <a:r>
              <a:rPr lang="en-US" dirty="0" err="1">
                <a:solidFill>
                  <a:srgbClr val="2B1620"/>
                </a:solidFill>
                <a:latin typeface="Cambria" pitchFamily="34" charset="0"/>
              </a:rPr>
              <a:t>bog’liq</a:t>
            </a:r>
            <a:r>
              <a:rPr lang="en-US" dirty="0">
                <a:solidFill>
                  <a:srgbClr val="2B1620"/>
                </a:solidFill>
                <a:latin typeface="Cambria" pitchFamily="34" charset="0"/>
              </a:rPr>
              <a:t>. </a:t>
            </a:r>
            <a:endParaRPr lang="en-US" b="1" dirty="0"/>
          </a:p>
          <a:p>
            <a:endParaRPr lang="en-UZ" dirty="0"/>
          </a:p>
        </p:txBody>
      </p:sp>
      <p:pic>
        <p:nvPicPr>
          <p:cNvPr id="61" name="Picture 60" descr="A screenshot of a graph&#10;&#10;AI-generated content may be incorrect.">
            <a:extLst>
              <a:ext uri="{FF2B5EF4-FFF2-40B4-BE49-F238E27FC236}">
                <a16:creationId xmlns:a16="http://schemas.microsoft.com/office/drawing/2014/main" id="{199D1E4C-6175-5EEB-0D39-BA936684D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960" y="328004"/>
            <a:ext cx="7772400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Tavsiyalar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bosqichlariga bo'lingan harakat rejasi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54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OY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Darhol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118104"/>
            <a:ext cx="91440" cy="91440"/>
          </a:xfrm>
          <a:prstGeom prst="ellipse">
            <a:avLst/>
          </a:prstGeom>
          <a:solidFill>
            <a:srgbClr val="B548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94436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kanalidagi eng past ko'rsatkichli 2-3 nuqtani chuqur tekshirish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69664"/>
            <a:ext cx="91440" cy="91440"/>
          </a:xfrm>
          <a:prstGeom prst="ellipse">
            <a:avLst/>
          </a:prstGeom>
          <a:solidFill>
            <a:srgbClr val="B548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99592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Aprel/mart sakrashlarining sababini aniqlash (aksiya bo'lsa — takrorlash rejasi)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874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267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OY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377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Qisqa muddat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09160" y="3118104"/>
            <a:ext cx="91440" cy="914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83480" y="294436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kanalining muvaffaqiyat omillarini hujjatlashtirish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4169664"/>
            <a:ext cx="91440" cy="9144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99592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Bozorda mijozlar so'rovnomasi va raqobatchi tahlili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1600200"/>
            <a:ext cx="3611880" cy="4434840"/>
          </a:xfrm>
          <a:prstGeom prst="roundRect">
            <a:avLst>
              <a:gd name="adj" fmla="val 2532"/>
            </a:avLst>
          </a:prstGeom>
          <a:solidFill>
            <a:srgbClr val="F7F3EE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8745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1874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OY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2377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O'rta muddat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95360" y="3118104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869680" y="294436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dashboard'ni har oy yangilab, haftalik kuzatuvga aylantirish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95360" y="4169664"/>
            <a:ext cx="91440" cy="914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69680" y="399592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emas, kanal darajasida KPI belgilash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6720" y="429768"/>
            <a:ext cx="1088136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200" dirty="0">
              <a:solidFill>
                <a:srgbClr val="3A253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ma'lumot to'plami, to'rt xil vosita — Excel, Python, SQL, Tableau</a:t>
            </a:r>
            <a:endParaRPr lang="en-US" sz="1300" b="1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3A2530"/>
          </a:solidFill>
          <a:ln w="12700">
            <a:solidFill>
              <a:srgbClr val="4A3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611880" cy="5486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 aniqlandi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487168"/>
            <a:ext cx="82296" cy="822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5568" y="2331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savdo 2026 H1'da 11,8%ga pasaydi (2,19 mlrd → 1,94 mlrd)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383280"/>
            <a:ext cx="82296" cy="822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15568" y="322783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umumiy pasayish emas: Bozor -21%, Shahar -12,3%, Rayon esa +16,5%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4279392"/>
            <a:ext cx="82296" cy="8229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4123944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Aprel-may oylarida Bozor va Rayon'da 77-95% oralig'ida keskin qisqa muddatli sakrashlar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69164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3A2530"/>
          </a:solidFill>
          <a:ln w="12700">
            <a:solidFill>
              <a:srgbClr val="4A33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691640"/>
            <a:ext cx="3611880" cy="54864"/>
          </a:xfrm>
          <a:prstGeom prst="rect">
            <a:avLst/>
          </a:prstGeom>
          <a:solidFill>
            <a:srgbClr val="3F7D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17720" y="1874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ishonchli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2487168"/>
            <a:ext cx="82296" cy="8229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64608" y="2331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va SQL (GROUP BY) natijalari 100% mos chiqdi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383280"/>
            <a:ext cx="82296" cy="8229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64608" y="322783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(LAG, RANK) orqali topilgan anomaliyalar SQL darajasida tasdiqlandi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4279392"/>
            <a:ext cx="82296" cy="82296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64608" y="4123944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xuddi shu raqamlarni interaktiv formatda qayta tasdiqladi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691640"/>
            <a:ext cx="3611880" cy="4251960"/>
          </a:xfrm>
          <a:prstGeom prst="roundRect">
            <a:avLst>
              <a:gd name="adj" fmla="val 2025"/>
            </a:avLst>
          </a:prstGeom>
          <a:solidFill>
            <a:srgbClr val="3A2530"/>
          </a:solidFill>
          <a:ln w="12700">
            <a:solidFill>
              <a:srgbClr val="4A33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691640"/>
            <a:ext cx="361188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66760" y="1874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Keyingi qadam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66760" y="2487168"/>
            <a:ext cx="82296" cy="822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13648" y="23317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— bir martalik hisobot emas, doimiy kuzatuv vositasi sifatida ishlatiladi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66760" y="3383280"/>
            <a:ext cx="82296" cy="822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13648" y="322783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kanalidagi pasayish sababini aniqlash — birinchi ustuvor vazifa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0" y="4279392"/>
            <a:ext cx="82296" cy="822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13648" y="4123944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kanalining o'sish omillarini boshqa kanallarga tatbiq etish imkoniyati o'rganiladi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1006</Words>
  <Application>Microsoft Macintosh PowerPoint</Application>
  <PresentationFormat>Widescreen</PresentationFormat>
  <Paragraphs>159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Gavhar</cp:lastModifiedBy>
  <cp:revision>3</cp:revision>
  <dcterms:created xsi:type="dcterms:W3CDTF">2026-09-12T10:16:47Z</dcterms:created>
  <dcterms:modified xsi:type="dcterms:W3CDTF">2026-09-15T12:38:36Z</dcterms:modified>
</cp:coreProperties>
</file>